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a66bda67334f4a" /><Relationship Type="http://schemas.openxmlformats.org/officeDocument/2006/relationships/extended-properties" Target="/docProps/app.xml" Id="R55f6ab09e6534220" /><Relationship Type="http://schemas.openxmlformats.org/officeDocument/2006/relationships/officeDocument" Target="/ppt/presentation.xml" Id="Rdf52f55f33594a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993f3b9c1341aa"/>
  </p:sldMasterIdLst>
  <p:notesMasterIdLst>
    <p:notesMasterId xmlns:r="http://schemas.openxmlformats.org/officeDocument/2006/relationships" r:id="R8b1b2d18db4b4600"/>
  </p:notesMasterIdLst>
  <p:sldIdLst>
    <p:sldId xmlns:r="http://schemas.openxmlformats.org/officeDocument/2006/relationships" id="256" r:id="Rd4c9241ab0324c83"/>
    <p:sldId xmlns:r="http://schemas.openxmlformats.org/officeDocument/2006/relationships" id="257" r:id="R9ac022668b2e4c6f"/>
    <p:sldId xmlns:r="http://schemas.openxmlformats.org/officeDocument/2006/relationships" id="258" r:id="Rba9606effde949f8"/>
    <p:sldId xmlns:r="http://schemas.openxmlformats.org/officeDocument/2006/relationships" id="259" r:id="Re44a8dd9113f4e84"/>
    <p:sldId xmlns:r="http://schemas.openxmlformats.org/officeDocument/2006/relationships" id="260" r:id="Rdf6d5367634b4106"/>
    <p:sldId xmlns:r="http://schemas.openxmlformats.org/officeDocument/2006/relationships" id="261" r:id="R4d6d7bde86e1492c"/>
    <p:sldId xmlns:r="http://schemas.openxmlformats.org/officeDocument/2006/relationships" id="262" r:id="Rb8d63d7bce3d4cac"/>
    <p:sldId xmlns:r="http://schemas.openxmlformats.org/officeDocument/2006/relationships" id="263" r:id="R64802d645e5344f8"/>
    <p:sldId xmlns:r="http://schemas.openxmlformats.org/officeDocument/2006/relationships" id="264" r:id="Rc76da17609344a74"/>
    <p:sldId xmlns:r="http://schemas.openxmlformats.org/officeDocument/2006/relationships" id="265" r:id="Re1b36c136d974de6"/>
    <p:sldId xmlns:r="http://schemas.openxmlformats.org/officeDocument/2006/relationships" id="266" r:id="R83c646a0c8284ca9"/>
    <p:sldId xmlns:r="http://schemas.openxmlformats.org/officeDocument/2006/relationships" id="267" r:id="R6ec6302ad1fa4811"/>
    <p:sldId xmlns:r="http://schemas.openxmlformats.org/officeDocument/2006/relationships" id="268" r:id="R8ddc67987c824b5b"/>
    <p:sldId xmlns:r="http://schemas.openxmlformats.org/officeDocument/2006/relationships" id="269" r:id="R8e5c552490ef4eb8"/>
    <p:sldId xmlns:r="http://schemas.openxmlformats.org/officeDocument/2006/relationships" id="270" r:id="R3022b5aac46e4c8c"/>
    <p:sldId xmlns:r="http://schemas.openxmlformats.org/officeDocument/2006/relationships" id="271" r:id="Rb80d3754bc15451f"/>
    <p:sldId xmlns:r="http://schemas.openxmlformats.org/officeDocument/2006/relationships" id="272" r:id="R58a3af149afd4f69"/>
    <p:sldId xmlns:r="http://schemas.openxmlformats.org/officeDocument/2006/relationships" id="273" r:id="Rf12a29f2c8114409"/>
    <p:sldId xmlns:r="http://schemas.openxmlformats.org/officeDocument/2006/relationships" id="274" r:id="R21501e8bfe6641c6"/>
    <p:sldId xmlns:r="http://schemas.openxmlformats.org/officeDocument/2006/relationships" id="275" r:id="Rdbbd7ddd970846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8f95a3787c4341" /><Relationship Type="http://schemas.openxmlformats.org/officeDocument/2006/relationships/slideMaster" Target="/ppt/slideMasters/slideMaster1.xml" Id="R4e993f3b9c1341aa" /><Relationship Type="http://schemas.openxmlformats.org/officeDocument/2006/relationships/notesMaster" Target="/ppt/notesMasters/notesMaster1.xml" Id="R8b1b2d18db4b4600" /><Relationship Type="http://schemas.openxmlformats.org/officeDocument/2006/relationships/presProps" Target="/ppt/presProps.xml" Id="Rafb24028b392414f" /><Relationship Type="http://schemas.openxmlformats.org/officeDocument/2006/relationships/tableStyles" Target="/ppt/tableStyles.xml" Id="Ra1f39dd119414ae8" /><Relationship Type="http://schemas.openxmlformats.org/officeDocument/2006/relationships/slide" Target="/ppt/slides/slide1.xml" Id="Rd4c9241ab0324c83" /><Relationship Type="http://schemas.openxmlformats.org/officeDocument/2006/relationships/slide" Target="/ppt/slides/slide2.xml" Id="R9ac022668b2e4c6f" /><Relationship Type="http://schemas.openxmlformats.org/officeDocument/2006/relationships/slide" Target="/ppt/slides/slide3.xml" Id="Rba9606effde949f8" /><Relationship Type="http://schemas.openxmlformats.org/officeDocument/2006/relationships/slide" Target="/ppt/slides/slide4.xml" Id="Re44a8dd9113f4e84" /><Relationship Type="http://schemas.openxmlformats.org/officeDocument/2006/relationships/slide" Target="/ppt/slides/slide5.xml" Id="Rdf6d5367634b4106" /><Relationship Type="http://schemas.openxmlformats.org/officeDocument/2006/relationships/slide" Target="/ppt/slides/slide6.xml" Id="R4d6d7bde86e1492c" /><Relationship Type="http://schemas.openxmlformats.org/officeDocument/2006/relationships/slide" Target="/ppt/slides/slide7.xml" Id="Rb8d63d7bce3d4cac" /><Relationship Type="http://schemas.openxmlformats.org/officeDocument/2006/relationships/slide" Target="/ppt/slides/slide8.xml" Id="R64802d645e5344f8" /><Relationship Type="http://schemas.openxmlformats.org/officeDocument/2006/relationships/slide" Target="/ppt/slides/slide9.xml" Id="Rc76da17609344a74" /><Relationship Type="http://schemas.openxmlformats.org/officeDocument/2006/relationships/slide" Target="/ppt/slides/slide10.xml" Id="Re1b36c136d974de6" /><Relationship Type="http://schemas.openxmlformats.org/officeDocument/2006/relationships/slide" Target="/ppt/slides/slide11.xml" Id="R83c646a0c8284ca9" /><Relationship Type="http://schemas.openxmlformats.org/officeDocument/2006/relationships/slide" Target="/ppt/slides/slide12.xml" Id="R6ec6302ad1fa4811" /><Relationship Type="http://schemas.openxmlformats.org/officeDocument/2006/relationships/slide" Target="/ppt/slides/slide13.xml" Id="R8ddc67987c824b5b" /><Relationship Type="http://schemas.openxmlformats.org/officeDocument/2006/relationships/slide" Target="/ppt/slides/slide14.xml" Id="R8e5c552490ef4eb8" /><Relationship Type="http://schemas.openxmlformats.org/officeDocument/2006/relationships/slide" Target="/ppt/slides/slide15.xml" Id="R3022b5aac46e4c8c" /><Relationship Type="http://schemas.openxmlformats.org/officeDocument/2006/relationships/slide" Target="/ppt/slides/slide16.xml" Id="Rb80d3754bc15451f" /><Relationship Type="http://schemas.openxmlformats.org/officeDocument/2006/relationships/slide" Target="/ppt/slides/slide17.xml" Id="R58a3af149afd4f69" /><Relationship Type="http://schemas.openxmlformats.org/officeDocument/2006/relationships/slide" Target="/ppt/slides/slide18.xml" Id="Rf12a29f2c8114409" /><Relationship Type="http://schemas.openxmlformats.org/officeDocument/2006/relationships/slide" Target="/ppt/slides/slide19.xml" Id="R21501e8bfe6641c6" /><Relationship Type="http://schemas.openxmlformats.org/officeDocument/2006/relationships/slide" Target="/ppt/slides/slide20.xml" Id="Rdbbd7ddd970846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ef2114db5549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ce6ddd78244b41" /><Relationship Type="http://schemas.openxmlformats.org/officeDocument/2006/relationships/notesMaster" Target="/ppt/notesMasters/notesMaster1.xml" Id="Rd56aaad5abc449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593af448744893" /><Relationship Type="http://schemas.openxmlformats.org/officeDocument/2006/relationships/notesMaster" Target="/ppt/notesMasters/notesMaster1.xml" Id="R270e3c94fa3943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46790ddbcc4117" /><Relationship Type="http://schemas.openxmlformats.org/officeDocument/2006/relationships/notesMaster" Target="/ppt/notesMasters/notesMaster1.xml" Id="R0a4d36d7de894d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c0e4a0a1f041cc" /><Relationship Type="http://schemas.openxmlformats.org/officeDocument/2006/relationships/notesMaster" Target="/ppt/notesMasters/notesMaster1.xml" Id="Re6242873c0384e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411bfd82e54cd4" /><Relationship Type="http://schemas.openxmlformats.org/officeDocument/2006/relationships/notesMaster" Target="/ppt/notesMasters/notesMaster1.xml" Id="Ra5aae2bf84bb4f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ee8043b57f4491" /><Relationship Type="http://schemas.openxmlformats.org/officeDocument/2006/relationships/notesMaster" Target="/ppt/notesMasters/notesMaster1.xml" Id="R5f447abda1494d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12b310f906463c" /><Relationship Type="http://schemas.openxmlformats.org/officeDocument/2006/relationships/notesMaster" Target="/ppt/notesMasters/notesMaster1.xml" Id="R00dca863a71546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e549da4bc947e4" /><Relationship Type="http://schemas.openxmlformats.org/officeDocument/2006/relationships/notesMaster" Target="/ppt/notesMasters/notesMaster1.xml" Id="Rcc3608060ef24f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f9cd018b014e81" /><Relationship Type="http://schemas.openxmlformats.org/officeDocument/2006/relationships/notesMaster" Target="/ppt/notesMasters/notesMaster1.xml" Id="Rb6534037e2c040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9287a48e5943ae" /><Relationship Type="http://schemas.openxmlformats.org/officeDocument/2006/relationships/notesMaster" Target="/ppt/notesMasters/notesMaster1.xml" Id="R369ce5adabfa40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06222783c44359" /><Relationship Type="http://schemas.openxmlformats.org/officeDocument/2006/relationships/notesMaster" Target="/ppt/notesMasters/notesMaster1.xml" Id="R7ecdc8e5562841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b3cc0d116a4c63" /><Relationship Type="http://schemas.openxmlformats.org/officeDocument/2006/relationships/notesMaster" Target="/ppt/notesMasters/notesMaster1.xml" Id="R8642bdf3e5ec42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4f6476d7434003" /><Relationship Type="http://schemas.openxmlformats.org/officeDocument/2006/relationships/notesMaster" Target="/ppt/notesMasters/notesMaster1.xml" Id="Rebcb016271034b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b9cd886b0848f0" /><Relationship Type="http://schemas.openxmlformats.org/officeDocument/2006/relationships/notesMaster" Target="/ppt/notesMasters/notesMaster1.xml" Id="R2c395907914544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5445b5cdd34d11" /><Relationship Type="http://schemas.openxmlformats.org/officeDocument/2006/relationships/notesMaster" Target="/ppt/notesMasters/notesMaster1.xml" Id="R17388747713f44b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0047ea5ce6446ab" /><Relationship Type="http://schemas.openxmlformats.org/officeDocument/2006/relationships/notesMaster" Target="/ppt/notesMasters/notesMaster1.xml" Id="Rd7ebd5b6ae09422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3290d79e7664abc" /><Relationship Type="http://schemas.openxmlformats.org/officeDocument/2006/relationships/notesMaster" Target="/ppt/notesMasters/notesMaster1.xml" Id="R2b1c24e7a4b34cc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6f7f9f3ba84f25" /><Relationship Type="http://schemas.openxmlformats.org/officeDocument/2006/relationships/notesMaster" Target="/ppt/notesMasters/notesMaster1.xml" Id="R30f5ea4c366f4b3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f03c2469ef48d0" /><Relationship Type="http://schemas.openxmlformats.org/officeDocument/2006/relationships/notesMaster" Target="/ppt/notesMasters/notesMaster1.xml" Id="Rf29d25497f524b0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fabb3e7727a4388" /><Relationship Type="http://schemas.openxmlformats.org/officeDocument/2006/relationships/notesMaster" Target="/ppt/notesMasters/notesMaster1.xml" Id="R8c3dc2eba63340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教师提示：先让学生看见终点，不要先讲按钮。</a:t>
            </a:r>
          </a:p>
          <a:p xmlns:a="http://schemas.openxmlformats.org/drawingml/2006/main">
            <a:r>
              <a:t>内容依据：课程设计与教材截图。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教师提示：让学生先描述看见的变化，不急着解释操作。</a:t>
            </a:r>
          </a:p>
          <a:p xmlns:a="http://schemas.openxmlformats.org/drawingml/2006/main">
            <a:r>
              <a:t>截图：教材《计算机应用基础教程》第 4 章中文 Excel 2003。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教师提示：四处差距就是接下来要解决的四个具体问题。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教师提示：把“自己找 → 给线索 → 给方法”作为课堂规则说清楚。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教师提示：完整窗口图只作为速查卡。</a:t>
            </a:r>
          </a:p>
          <a:p xmlns:a="http://schemas.openxmlformats.org/drawingml/2006/main">
            <a:r>
              <a:t>截图：教材《计算机应用基础教程》第 4 章中文 Excel 2003。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教师提示：让学生自己指出工作表区、名称框和格式工具栏。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教师提示：观察学生是否先选区域；卡住时再给线索和方法。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教师提示：这是本课最容易混淆的事实。可以先演示再让学生说出差别。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教师提示：允许按钮、菜单和快捷键路径不同，只要最后的成品一致。</a:t>
            </a:r>
          </a:p>
          <a:p xmlns:a="http://schemas.openxmlformats.org/drawingml/2006/main">
            <a:r>
              <a:t>截图：教材《计算机应用基础教程》第 4 章中文 Excel 2003。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教师提示：强调允许路径差异，不要把按钮法讲成唯一正确答案。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教师提示：这页作为巡堂时的投屏速查，不需要逐项念。</a:t>
            </a:r>
          </a:p>
          <a:p xmlns:a="http://schemas.openxmlformats.org/drawingml/2006/main">
            <a:r>
              <a:t>截图：教材《计算机应用基础教程》第 4 章中文 Excel 2003。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教师提示：关注学生是否抓准右下角的小黑十字，抓错位置容易变成移动单元格。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教师提示：把自动填充和后续公式填充连接起来，但不要提前展开第二课内容。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教师提示：用成品验收，不纠正学生的非主路径。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教师提示：收束到公式与自动填充的下节课连接。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教师提示：作业保持三层，课堂口头说明即可。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教师提示：提醒学生保存自己的成绩表，下一课继续使用填充柄。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d4ec5b88e4e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dc946f820d4569" /><Relationship Type="http://schemas.openxmlformats.org/officeDocument/2006/relationships/slideLayout" Target="/ppt/slideLayouts/slideLayout1.xml" Id="R11d89cfa72414e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d89cfa72414e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b8bae11304344" /><Relationship Type="http://schemas.openxmlformats.org/officeDocument/2006/relationships/image" Target="/ppt/media/image.png" Id="Rf1bf6cfb9e53470a" /><Relationship Type="http://schemas.openxmlformats.org/officeDocument/2006/relationships/notesSlide" Target="/ppt/notesSlides/notesSlide1.xml" Id="Rc74666e618754d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4301c87e64cb1" /><Relationship Type="http://schemas.openxmlformats.org/officeDocument/2006/relationships/image" Target="/ppt/media/image2.png" Id="Rad5c36f3541a4ab1" /><Relationship Type="http://schemas.openxmlformats.org/officeDocument/2006/relationships/notesSlide" Target="/ppt/notesSlides/notesSlide2.xml" Id="R82ca7e3a17194d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2999087f74b76" /><Relationship Type="http://schemas.openxmlformats.org/officeDocument/2006/relationships/notesSlide" Target="/ppt/notesSlides/notesSlide3.xml" Id="Reeee9f6027684d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bdf6b52054f4d" /><Relationship Type="http://schemas.openxmlformats.org/officeDocument/2006/relationships/notesSlide" Target="/ppt/notesSlides/notesSlide4.xml" Id="R4bbad6fbcdc145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21de390e34cbc" /><Relationship Type="http://schemas.openxmlformats.org/officeDocument/2006/relationships/image" Target="/ppt/media/image3.png" Id="R560e5ff8c86f4b4e" /><Relationship Type="http://schemas.openxmlformats.org/officeDocument/2006/relationships/notesSlide" Target="/ppt/notesSlides/notesSlide5.xml" Id="R3c1cd7d8341845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a9e1b37e34954" /><Relationship Type="http://schemas.openxmlformats.org/officeDocument/2006/relationships/image" Target="/ppt/media/image4.png" Id="R440108396de54380" /><Relationship Type="http://schemas.openxmlformats.org/officeDocument/2006/relationships/notesSlide" Target="/ppt/notesSlides/notesSlide6.xml" Id="Rc5f1e45e24864a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a23c74150494b" /><Relationship Type="http://schemas.openxmlformats.org/officeDocument/2006/relationships/notesSlide" Target="/ppt/notesSlides/notesSlide7.xml" Id="R78fec4ccde6b4b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c056a34ec458c" /><Relationship Type="http://schemas.openxmlformats.org/officeDocument/2006/relationships/image" Target="/ppt/media/image5.png" Id="R0ecbfdab3eee4e59" /><Relationship Type="http://schemas.openxmlformats.org/officeDocument/2006/relationships/notesSlide" Target="/ppt/notesSlides/notesSlide8.xml" Id="Raf2ff145adb04a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d1cd9af0f4c86" /><Relationship Type="http://schemas.openxmlformats.org/officeDocument/2006/relationships/notesSlide" Target="/ppt/notesSlides/notesSlide9.xml" Id="Ree587d42379943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bc34694e64445" /><Relationship Type="http://schemas.openxmlformats.org/officeDocument/2006/relationships/notesSlide" Target="/ppt/notesSlides/notesSlide10.xml" Id="Rab17f71a4fc14f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9da1f5ce94a7e" /><Relationship Type="http://schemas.openxmlformats.org/officeDocument/2006/relationships/image" Target="/ppt/media/image6.png" Id="R88a09d9cb8b14629" /><Relationship Type="http://schemas.openxmlformats.org/officeDocument/2006/relationships/notesSlide" Target="/ppt/notesSlides/notesSlide11.xml" Id="R079181fbb4464e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db95e1878497a" /><Relationship Type="http://schemas.openxmlformats.org/officeDocument/2006/relationships/notesSlide" Target="/ppt/notesSlides/notesSlide12.xml" Id="Rbbc6cd46c6e447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0b58243db4501" /><Relationship Type="http://schemas.openxmlformats.org/officeDocument/2006/relationships/image" Target="/ppt/media/image7.png" Id="R3d4e0d5ec5a64d96" /><Relationship Type="http://schemas.openxmlformats.org/officeDocument/2006/relationships/notesSlide" Target="/ppt/notesSlides/notesSlide13.xml" Id="Rea6b2044056448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eafe34863475e" /><Relationship Type="http://schemas.openxmlformats.org/officeDocument/2006/relationships/notesSlide" Target="/ppt/notesSlides/notesSlide14.xml" Id="Ra14b0f616e5e47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f6a70adb8457a" /><Relationship Type="http://schemas.openxmlformats.org/officeDocument/2006/relationships/image" Target="/ppt/media/image8.png" Id="R3f6297775fd04ebe" /><Relationship Type="http://schemas.openxmlformats.org/officeDocument/2006/relationships/notesSlide" Target="/ppt/notesSlides/notesSlide15.xml" Id="R4eea11efe5bf41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360c8dd7a4920" /><Relationship Type="http://schemas.openxmlformats.org/officeDocument/2006/relationships/notesSlide" Target="/ppt/notesSlides/notesSlide16.xml" Id="Rf968bd1afd3c46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093dd0ada4359" /><Relationship Type="http://schemas.openxmlformats.org/officeDocument/2006/relationships/image" Target="/ppt/media/image9.png" Id="R4455c72e89724689" /><Relationship Type="http://schemas.openxmlformats.org/officeDocument/2006/relationships/notesSlide" Target="/ppt/notesSlides/notesSlide17.xml" Id="R2e6acd3f647e48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c7f45f5044ebb" /><Relationship Type="http://schemas.openxmlformats.org/officeDocument/2006/relationships/notesSlide" Target="/ppt/notesSlides/notesSlide18.xml" Id="R72aab91c1863446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75d8e996244fc" /><Relationship Type="http://schemas.openxmlformats.org/officeDocument/2006/relationships/notesSlide" Target="/ppt/notesSlides/notesSlide19.xml" Id="Rddde715212c54ae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90e69af5e4170" /><Relationship Type="http://schemas.openxmlformats.org/officeDocument/2006/relationships/notesSlide" Target="/ppt/notesSlides/notesSlide20.xml" Id="R108682f90d984c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31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B57AD-A2C4-4B59-9369-672E5E3A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3E076-C517-40ED-9776-8239BF30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47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7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777"/>
                </a:solidFill>
                <a:latin typeface="Aptos"/>
                <a:ea typeface="Aptos"/>
                <a:cs typeface="Aptos"/>
              </a:rPr>
              <a:t>EXCEL 2003 · 第一课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6BEF2-6B17-43B6-9E28-27F5CE53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561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把空白表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做成成绩表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8AD32-E7DB-4BA8-8948-16EE1585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BE9F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DBE9F4"/>
                </a:solidFill>
                <a:latin typeface="Aptos"/>
                <a:ea typeface="Aptos"/>
                <a:cs typeface="Aptos"/>
              </a:rPr>
              <a:t>先看清要做出什么，再想怎么做到。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CC024-BBF7-4B27-B52C-BAD611A2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9C4D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A9C4D7"/>
                </a:solidFill>
                <a:latin typeface="Aptos"/>
                <a:ea typeface="Aptos"/>
                <a:cs typeface="Aptos"/>
              </a:rPr>
              <a:t>高中信息技术 · 计算实验室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f6cfb9e53470a"/>
          <a:stretch xmlns:a="http://schemas.openxmlformats.org/drawingml/2006/main"/>
        </p:blipFill>
        <p:spPr>
          <a:xfrm xmlns:a="http://schemas.openxmlformats.org/drawingml/2006/main">
            <a:off x="6762750" y="2333517"/>
            <a:ext cx="4381500" cy="18671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94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C64D7-88DB-4984-AE1E-54295CFD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3E224-61E6-464F-A16B-754751AF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CC4E5-CC67-4BF5-8A1E-0EDDCDDB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85B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B46"/>
                </a:solidFill>
                <a:latin typeface="Aptos"/>
                <a:ea typeface="Aptos"/>
                <a:cs typeface="Aptos"/>
              </a:rPr>
              <a:t>先看终点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C530F-411A-4D3F-A6A4-D125BD81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成品长这样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7EA9A-0216-460D-B9A9-F43AB68C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05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57685"/>
                </a:solidFill>
                <a:latin typeface="Aptos"/>
                <a:ea typeface="Aptos"/>
                <a:cs typeface="Aptos"/>
              </a:rPr>
              <a:t>01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80DD1-3FD8-4DAC-83F3-4B3A61CA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5A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65A8"/>
                </a:solidFill>
                <a:latin typeface="Aptos"/>
                <a:ea typeface="Aptos"/>
                <a:cs typeface="Aptos"/>
              </a:rPr>
              <a:t>今天的目标不是背按钮，</a:t>
            </a:r>
          </a:p>
          <a:p xmlns:a="http://schemas.openxmlformats.org/drawingml/2006/main">
            <a:pPr>
              <a:defRPr sz="2025" b="1">
                <a:solidFill>
                  <a:srgbClr val="1765A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65A8"/>
                </a:solidFill>
                <a:latin typeface="Aptos"/>
                <a:ea typeface="Aptos"/>
                <a:cs typeface="Aptos"/>
              </a:rPr>
              <a:t>是把这一张表做出来。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0816F-5697-4E0B-A9E1-0C8C4132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657685"/>
                </a:solidFill>
                <a:latin typeface="Aptos"/>
                <a:ea typeface="Aptos"/>
                <a:cs typeface="Aptos"/>
              </a:rPr>
              <a:t>先看一眼终点，再回头找差距。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c36f3541a4ab1"/>
          <a:stretch xmlns:a="http://schemas.openxmlformats.org/drawingml/2006/main"/>
        </p:blipFill>
        <p:spPr>
          <a:xfrm xmlns:a="http://schemas.openxmlformats.org/drawingml/2006/main">
            <a:off x="5619750" y="2473469"/>
            <a:ext cx="5334000" cy="22730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453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DCAFD-C45C-48EE-A578-228F50B5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916BE-8231-42C2-A126-4D8D3F64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3026C-76DC-4114-AE69-499688D8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85B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B46"/>
                </a:solidFill>
                <a:latin typeface="Aptos"/>
                <a:ea typeface="Aptos"/>
                <a:cs typeface="Aptos"/>
              </a:rPr>
              <a:t>观察差距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5F6F7-A352-4E58-92C3-9DB0618B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它跟一张空白表差在哪？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E8F1B-4B24-4F1A-9390-D8BDF192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05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57685"/>
                </a:solidFill>
                <a:latin typeface="Aptos"/>
                <a:ea typeface="Aptos"/>
                <a:cs typeface="Aptos"/>
              </a:rPr>
              <a:t>02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B4BD7-CE11-4B8E-B240-DB4352E9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66A06-E611-49B5-ADAA-E229ADB8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72B3A"/>
                </a:solidFill>
                <a:latin typeface="Aptos"/>
                <a:ea typeface="Aptos"/>
                <a:cs typeface="Aptos"/>
              </a:rPr>
              <a:t>标题从 A1 横跨整行并居中。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F9E1A-41AC-4219-AAA1-34B0FEE3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16DB5-EDC6-457C-83AC-A82018AB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72B3A"/>
                </a:solidFill>
                <a:latin typeface="Aptos"/>
                <a:ea typeface="Aptos"/>
                <a:cs typeface="Aptos"/>
              </a:rPr>
              <a:t>表头加粗、居中、带下划线。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9B174-00CD-4D35-998E-8BD52589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DD938-23A7-4552-9994-CA878CB1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72B3A"/>
                </a:solidFill>
                <a:latin typeface="Aptos"/>
                <a:ea typeface="Aptos"/>
                <a:cs typeface="Aptos"/>
              </a:rPr>
              <a:t>学号不用逐个敲，可以按规律续写。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EAB7B-892A-4F2A-AD8B-46A0D421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1F603-D1B0-4C2B-BD6B-D335C856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72B3A"/>
                </a:solidFill>
                <a:latin typeface="Aptos"/>
                <a:ea typeface="Aptos"/>
                <a:cs typeface="Aptos"/>
              </a:rPr>
              <a:t>平均分让 Excel 自己算。</a:t>
            </a:r>
          </a:p>
        </p:txBody>
      </p:sp>
    </p:spTree>
    <p:extLst>
      <p:ext uri="{BB962C8B-B14F-4D97-AF65-F5344CB8AC3E}">
        <p14:creationId xmlns:p14="http://schemas.microsoft.com/office/powerpoint/2010/main" val="14041844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BBE08-2726-4B0C-85B8-3CB25018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A0D17-E638-4493-A586-86429576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F32FB-D151-4DE7-8161-891C523E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85B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B46"/>
                </a:solidFill>
                <a:latin typeface="Aptos"/>
                <a:ea typeface="Aptos"/>
                <a:cs typeface="Aptos"/>
              </a:rPr>
              <a:t>今天的路线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74EBF-4836-42C6-A39C-A2DE4F28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今天只做三件事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84C74-1172-4F40-A1CA-75318DC1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05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57685"/>
                </a:solidFill>
                <a:latin typeface="Aptos"/>
                <a:ea typeface="Aptos"/>
                <a:cs typeface="Aptos"/>
              </a:rPr>
              <a:t>03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BF874-FA67-4D3D-9723-46578FDE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47625">
            <a:solidFill>
              <a:srgbClr val="E85B4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4F57D-3DDD-43DC-9CEC-2D9DF196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标题跨列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27733-3420-48BD-94A4-20362CCB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57685"/>
                </a:solidFill>
                <a:latin typeface="Aptos"/>
                <a:ea typeface="Aptos"/>
                <a:cs typeface="Aptos"/>
              </a:rPr>
              <a:t>选中一片格子，合并并居中。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58F3F-1957-429F-847A-F89F453C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47625">
            <a:solidFill>
              <a:srgbClr val="E85B4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63710-012F-4D28-8FBB-AB53723F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字变好看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E0745-B9F7-42FC-B37F-A6D91169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670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57685"/>
                </a:solidFill>
                <a:latin typeface="Aptos"/>
                <a:ea typeface="Aptos"/>
                <a:cs typeface="Aptos"/>
              </a:rPr>
              <a:t>字体、字号、加粗、下划线。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DADAF-DCA1-4D55-A373-A3E088F5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47625">
            <a:solidFill>
              <a:srgbClr val="E85B4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CE4E9-4077-4C32-9E89-F8DD2923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学号续写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8DD72-8552-4FA6-8A36-EBDE3FF4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57685"/>
                </a:solidFill>
                <a:latin typeface="Aptos"/>
                <a:ea typeface="Aptos"/>
                <a:cs typeface="Aptos"/>
              </a:rPr>
              <a:t>找到右下角的小黑十字。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585A0-028B-4212-A74E-E3D46AA2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672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765A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65A8"/>
                </a:solidFill>
                <a:latin typeface="Aptos"/>
                <a:ea typeface="Aptos"/>
                <a:cs typeface="Aptos"/>
              </a:rPr>
              <a:t>每一关都先自己找；卡住了，再看线索和方法。</a:t>
            </a:r>
          </a:p>
        </p:txBody>
      </p:sp>
    </p:spTree>
    <p:extLst>
      <p:ext uri="{BB962C8B-B14F-4D97-AF65-F5344CB8AC3E}">
        <p14:creationId xmlns:p14="http://schemas.microsoft.com/office/powerpoint/2010/main" val="298663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D3331-5892-4053-A4D8-C809CC6B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5CE0D-4B18-4464-92D7-A823BC1A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11A1A-CE8B-411C-A2FA-49A8B64F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85B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B46"/>
                </a:solidFill>
                <a:latin typeface="Aptos"/>
                <a:ea typeface="Aptos"/>
                <a:cs typeface="Aptos"/>
              </a:rPr>
              <a:t>先认眼前的窗口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CC5AC-60DE-423B-8351-03490FD0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不必全背，先找到这四处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9B9B3-5C23-4059-AFF3-886B5F8E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05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57685"/>
                </a:solidFill>
                <a:latin typeface="Aptos"/>
                <a:ea typeface="Aptos"/>
                <a:cs typeface="Aptos"/>
              </a:rPr>
              <a:t>04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6F237-2AF4-47E7-A8AD-5CD1F6C7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82589-B711-4827-BC54-0FE706CC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B3A"/>
                </a:solidFill>
                <a:latin typeface="Aptos"/>
                <a:ea typeface="Aptos"/>
                <a:cs typeface="Aptos"/>
              </a:rPr>
              <a:t>工作表区：中间这一大片格子。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8F5E7-2260-4CDC-A646-0EDD83DE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7F97E-5F34-4949-9CBC-F0E7B59C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B3A"/>
                </a:solidFill>
                <a:latin typeface="Aptos"/>
                <a:ea typeface="Aptos"/>
                <a:cs typeface="Aptos"/>
              </a:rPr>
              <a:t>名称框：告诉你现在点的是哪个格子。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D162F-E20F-4980-A958-ACA5FFA3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3AB8E-AC50-44CB-A314-E3EFF583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B3A"/>
                </a:solidFill>
                <a:latin typeface="Aptos"/>
                <a:ea typeface="Aptos"/>
                <a:cs typeface="Aptos"/>
              </a:rPr>
              <a:t>格式工具栏：改字、合并的常用按钮。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E97EB-8884-468D-A7BA-3A00AE10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302AE-3C63-4639-96C1-CE974FFE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B3A"/>
                </a:solidFill>
                <a:latin typeface="Aptos"/>
                <a:ea typeface="Aptos"/>
                <a:cs typeface="Aptos"/>
              </a:rPr>
              <a:t>编辑栏的叉号和勾号：放弃或确定。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e5ff8c86f4b4e"/>
          <a:stretch xmlns:a="http://schemas.openxmlformats.org/drawingml/2006/main"/>
        </p:blipFill>
        <p:spPr>
          <a:xfrm xmlns:a="http://schemas.openxmlformats.org/drawingml/2006/main">
            <a:off x="5905500" y="2334816"/>
            <a:ext cx="4953000" cy="28170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30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2D683-3CF2-4B0D-ADAC-CBE3C33C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89382-1298-4A1E-A629-AD796D51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AA498-2996-4473-A67D-46B74EA8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85B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B46"/>
                </a:solidFill>
                <a:latin typeface="Aptos"/>
                <a:ea typeface="Aptos"/>
                <a:cs typeface="Aptos"/>
              </a:rPr>
              <a:t>速查卡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47194-E2E8-4423-A875-4040C4A6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窗口里每一块，做什么？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5619E-B02D-4BBB-A0AB-34438641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05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57685"/>
                </a:solidFill>
                <a:latin typeface="Aptos"/>
                <a:ea typeface="Aptos"/>
                <a:cs typeface="Aptos"/>
              </a:rPr>
              <a:t>05 / 19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108396de54380"/>
          <a:stretch xmlns:a="http://schemas.openxmlformats.org/drawingml/2006/main"/>
        </p:blipFill>
        <p:spPr>
          <a:xfrm xmlns:a="http://schemas.openxmlformats.org/drawingml/2006/main">
            <a:off x="2662813" y="1619250"/>
            <a:ext cx="6866374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B39D5-F74B-4C67-A9D3-4344775A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340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57685"/>
                </a:solidFill>
                <a:latin typeface="Aptos"/>
                <a:ea typeface="Aptos"/>
                <a:cs typeface="Aptos"/>
              </a:rPr>
              <a:t>鼠标在按钮上停一秒，会弹出黄色提示。先做任务，找不到再回来。</a:t>
            </a:r>
          </a:p>
        </p:txBody>
      </p:sp>
    </p:spTree>
    <p:extLst>
      <p:ext uri="{BB962C8B-B14F-4D97-AF65-F5344CB8AC3E}">
        <p14:creationId xmlns:p14="http://schemas.microsoft.com/office/powerpoint/2010/main" val="18211878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31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C7437-9576-48E9-A46A-C8AE60E3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91B8E-99BF-4245-B66B-AF6B6D5E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BE26E-BAE6-4470-A97E-C194C75C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77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B777"/>
                </a:solidFill>
                <a:latin typeface="Aptos"/>
                <a:ea typeface="Aptos"/>
                <a:cs typeface="Aptos"/>
              </a:rPr>
              <a:t>第一关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542BF-8367-457A-8440-D43CDF1B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让标题跨列居中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5785D-164A-4436-A5AB-DED7C659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BE9F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DBE9F4"/>
                </a:solidFill>
                <a:latin typeface="Aptos"/>
                <a:ea typeface="Aptos"/>
                <a:cs typeface="Aptos"/>
              </a:rPr>
              <a:t>先把一格里的标题，变成一整行的标题。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801F3-6A34-4D52-8CF3-280D8E59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9C4D7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A9C4D7"/>
                </a:solidFill>
                <a:latin typeface="Aptos"/>
                <a:ea typeface="Aptos"/>
                <a:cs typeface="Aptos"/>
              </a:rPr>
              <a:t>06 / 19</a:t>
            </a:r>
          </a:p>
        </p:txBody>
      </p:sp>
    </p:spTree>
    <p:extLst>
      <p:ext uri="{BB962C8B-B14F-4D97-AF65-F5344CB8AC3E}">
        <p14:creationId xmlns:p14="http://schemas.microsoft.com/office/powerpoint/2010/main" val="4544828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14632-2295-4101-AC73-57BCE37B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2C695-1409-431F-843A-2EE0CD94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0C1E2-0BE8-4888-A2BE-F0DB421D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85B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B46"/>
                </a:solidFill>
                <a:latin typeface="Aptos"/>
                <a:ea typeface="Aptos"/>
                <a:cs typeface="Aptos"/>
              </a:rPr>
              <a:t>动手做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BF586-4FA8-461F-A852-D7B61B5A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标题缩在 A1，怎么横跨 5 列还居中？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1D353-5F94-4C8A-9851-442AEE39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05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57685"/>
                </a:solidFill>
                <a:latin typeface="Aptos"/>
                <a:ea typeface="Aptos"/>
                <a:cs typeface="Aptos"/>
              </a:rPr>
              <a:t>07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242A0-F341-42FE-8632-13C465FB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A7E40-A845-48CC-B538-C686263B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72B3A"/>
                </a:solidFill>
                <a:latin typeface="Aptos"/>
                <a:ea typeface="Aptos"/>
                <a:cs typeface="Aptos"/>
              </a:rPr>
              <a:t>先选中 A1:E1 这一片。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E3495-C349-4F71-B0E9-37F6FED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140A5-D51E-4403-9458-56FE55B0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72B3A"/>
                </a:solidFill>
                <a:latin typeface="Aptos"/>
                <a:ea typeface="Aptos"/>
                <a:cs typeface="Aptos"/>
              </a:rPr>
              <a:t>再点“合并及居中”。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9B467-664F-4B31-9652-65C82F56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F414D-E96F-4A37-8204-0C96BE37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72B3A"/>
                </a:solidFill>
                <a:latin typeface="Aptos"/>
                <a:ea typeface="Aptos"/>
                <a:cs typeface="Aptos"/>
              </a:rPr>
              <a:t>标题会跨列，并自动跑到正中间。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bfdab3eee4e59"/>
          <a:stretch xmlns:a="http://schemas.openxmlformats.org/drawingml/2006/main"/>
        </p:blipFill>
        <p:spPr>
          <a:xfrm xmlns:a="http://schemas.openxmlformats.org/drawingml/2006/main">
            <a:off x="6191250" y="2442838"/>
            <a:ext cx="4762500" cy="20294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8839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40E83-7A5C-4A40-A2F5-C0D1C574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F05F0-2C19-4F53-9CA9-10A295D2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9FFF0-B73A-4FDB-A2D3-EC7EFEF9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85B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B46"/>
                </a:solidFill>
                <a:latin typeface="Aptos"/>
                <a:ea typeface="Aptos"/>
                <a:cs typeface="Aptos"/>
              </a:rPr>
              <a:t>别把两个动作混在一起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80EE8-ECFB-423C-80CF-DE3750AA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合并，不等于居中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55E4E-FCF1-45D4-B479-66BFCD3A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05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57685"/>
                </a:solidFill>
                <a:latin typeface="Aptos"/>
                <a:ea typeface="Aptos"/>
                <a:cs typeface="Aptos"/>
              </a:rPr>
              <a:t>08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CBA46-779E-418B-A181-4AFAD5D0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050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合并及居中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D6E6B-2B12-47F0-AB64-293EB4EB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2B3A"/>
                </a:solidFill>
                <a:latin typeface="Aptos"/>
                <a:ea typeface="Aptos"/>
                <a:cs typeface="Aptos"/>
              </a:rPr>
              <a:t>格子合并好，文字自动居中。</a:t>
            </a:r>
          </a:p>
          <a:p xmlns:a="http://schemas.openxmlformats.org/drawingml/2006/main">
            <a:pPr algn="ctr">
              <a:defRPr sz="165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2B3A"/>
                </a:solidFill>
                <a:latin typeface="Aptos"/>
                <a:ea typeface="Aptos"/>
                <a:cs typeface="Aptos"/>
              </a:rPr>
              <a:t>平时做标题，最省事。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F35D8-DBA6-443F-A917-DC2F423C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格式 → 单元格 → 对齐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572BC-4AE4-4E16-8892-625C4C24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2B3A"/>
                </a:solidFill>
                <a:latin typeface="Aptos"/>
                <a:ea typeface="Aptos"/>
                <a:cs typeface="Aptos"/>
              </a:rPr>
              <a:t>勾选合并单元格后，只是合成一个格子。</a:t>
            </a:r>
          </a:p>
          <a:p xmlns:a="http://schemas.openxmlformats.org/drawingml/2006/main">
            <a:pPr algn="ctr">
              <a:defRPr sz="165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2B3A"/>
                </a:solidFill>
                <a:latin typeface="Aptos"/>
                <a:ea typeface="Aptos"/>
                <a:cs typeface="Aptos"/>
              </a:rPr>
              <a:t>还要另把水平对齐设为居中。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9140D-7190-43B7-A277-7C8E7393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14161-CDEB-4E0C-A2E4-02AE1D76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5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85B46"/>
                </a:solidFill>
                <a:latin typeface="Aptos"/>
                <a:ea typeface="Aptos"/>
                <a:cs typeface="Aptos"/>
              </a:rPr>
              <a:t>注意：合并后只留下左上角那个格子的内容；做错了就撤销。</a:t>
            </a:r>
          </a:p>
        </p:txBody>
      </p:sp>
    </p:spTree>
    <p:extLst>
      <p:ext uri="{BB962C8B-B14F-4D97-AF65-F5344CB8AC3E}">
        <p14:creationId xmlns:p14="http://schemas.microsoft.com/office/powerpoint/2010/main" val="15973286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31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1B866-18BD-4EE8-BB4A-721278A3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821DC-4BA2-444B-A923-B2E57DD2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5C96D-F52D-4757-94FF-7EE9639F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77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B777"/>
                </a:solidFill>
                <a:latin typeface="Aptos"/>
                <a:ea typeface="Aptos"/>
                <a:cs typeface="Aptos"/>
              </a:rPr>
              <a:t>第二关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03DA5-7926-4B83-BA97-946DE28F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把字变好看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61E11-6987-471E-AD35-C2D8F1BB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BE9F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DBE9F4"/>
                </a:solidFill>
                <a:latin typeface="Aptos"/>
                <a:ea typeface="Aptos"/>
                <a:cs typeface="Aptos"/>
              </a:rPr>
              <a:t>先选中对象，再改格式。顺序不要反。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CFBB0-CC5B-423D-A13F-33F06680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9C4D7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A9C4D7"/>
                </a:solidFill>
                <a:latin typeface="Aptos"/>
                <a:ea typeface="Aptos"/>
                <a:cs typeface="Aptos"/>
              </a:rPr>
              <a:t>09 / 19</a:t>
            </a:r>
          </a:p>
        </p:txBody>
      </p:sp>
    </p:spTree>
    <p:extLst>
      <p:ext uri="{BB962C8B-B14F-4D97-AF65-F5344CB8AC3E}">
        <p14:creationId xmlns:p14="http://schemas.microsoft.com/office/powerpoint/2010/main" val="13498896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253A9-86A7-4DBE-8C26-569BCADE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D66CB-703E-4C24-B413-7C7832BB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73D51-3D6B-45F3-84AA-9D743BFA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85B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B46"/>
                </a:solidFill>
                <a:latin typeface="Aptos"/>
                <a:ea typeface="Aptos"/>
                <a:cs typeface="Aptos"/>
              </a:rPr>
              <a:t>动手做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FBA59-9208-4034-8805-12C0822A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先选中，再改格式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A1AA5-D498-4CD2-BD08-A1B53893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05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57685"/>
                </a:solidFill>
                <a:latin typeface="Aptos"/>
                <a:ea typeface="Aptos"/>
                <a:cs typeface="Aptos"/>
              </a:rPr>
              <a:t>10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CAC9F-C335-4AF6-9016-70922C94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EA90C-1CC2-4C48-AAB2-43F92653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2B3A"/>
                </a:solidFill>
                <a:latin typeface="Aptos"/>
                <a:ea typeface="Aptos"/>
                <a:cs typeface="Aptos"/>
              </a:rPr>
              <a:t>标题选 A1:E1：黑体、20 号、加粗。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3A47F-5447-4D50-A81D-376CFB89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41138-91E8-4390-AC9A-E0351BB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2B3A"/>
                </a:solidFill>
                <a:latin typeface="Aptos"/>
                <a:ea typeface="Aptos"/>
                <a:cs typeface="Aptos"/>
              </a:rPr>
              <a:t>表头选整行：加粗、12 号、居中。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CD03F-4BC1-470B-8A35-41FA33F5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F9B68-C58D-4B04-AEB9-2A1FF169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2B3A"/>
                </a:solidFill>
                <a:latin typeface="Aptos"/>
                <a:ea typeface="Aptos"/>
                <a:cs typeface="Aptos"/>
              </a:rPr>
              <a:t>表头再加一条单下划线。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09d9cb8b14629"/>
          <a:stretch xmlns:a="http://schemas.openxmlformats.org/drawingml/2006/main"/>
        </p:blipFill>
        <p:spPr>
          <a:xfrm xmlns:a="http://schemas.openxmlformats.org/drawingml/2006/main">
            <a:off x="5810250" y="2846876"/>
            <a:ext cx="5429250" cy="45939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2ECB4-48E1-4E48-97D8-05F8BDB6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65A8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65A8"/>
                </a:solidFill>
                <a:latin typeface="Aptos"/>
                <a:ea typeface="Aptos"/>
                <a:cs typeface="Aptos"/>
              </a:rPr>
              <a:t>自己找：字体框、字号框、加粗、下划线、居中分别在哪？</a:t>
            </a:r>
          </a:p>
        </p:txBody>
      </p:sp>
    </p:spTree>
    <p:extLst>
      <p:ext uri="{BB962C8B-B14F-4D97-AF65-F5344CB8AC3E}">
        <p14:creationId xmlns:p14="http://schemas.microsoft.com/office/powerpoint/2010/main" val="18006793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F01DD-C3D2-4543-A078-60AC761D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012D2-7222-4A81-9B67-B920CECE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A121E-7939-4801-9AD7-0A0ED74C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85B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B46"/>
                </a:solidFill>
                <a:latin typeface="Aptos"/>
                <a:ea typeface="Aptos"/>
                <a:cs typeface="Aptos"/>
              </a:rPr>
              <a:t>三条路，结果一样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A97B6-D48C-434C-BFE0-3C7BACB9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改字在哪改？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2138C-0589-4933-BE13-D8BD75D8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05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57685"/>
                </a:solidFill>
                <a:latin typeface="Aptos"/>
                <a:ea typeface="Aptos"/>
                <a:cs typeface="Aptos"/>
              </a:rPr>
              <a:t>11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B3EB4-22AF-441B-8362-970D3C88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7FBD7-2249-451E-951E-0B95A76E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72B3A"/>
                </a:solidFill>
                <a:latin typeface="Aptos"/>
                <a:ea typeface="Aptos"/>
                <a:cs typeface="Aptos"/>
              </a:rPr>
              <a:t>格式工具栏：选中格子，直接点字体、字号、加粗、斜体、下划线。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E50AF-5A50-43C4-B2A7-59ED8402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DB7B4-A681-4DC3-BA8C-53C8E4F8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72B3A"/>
                </a:solidFill>
                <a:latin typeface="Aptos"/>
                <a:ea typeface="Aptos"/>
                <a:cs typeface="Aptos"/>
              </a:rPr>
              <a:t>菜单：格式 → 单元格 → 字体，一次设全。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D31AC-CB9D-4B9D-A893-581DA488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86ED4-A70C-413B-9EE1-892B6CB7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72B3A"/>
                </a:solidFill>
                <a:latin typeface="Aptos"/>
                <a:ea typeface="Aptos"/>
                <a:cs typeface="Aptos"/>
              </a:rPr>
              <a:t>快捷键：Ctrl+B 加粗，Ctrl+U 下划线。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6A58F-F953-47A3-888F-34FF3FFC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E85B46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E85B46"/>
                </a:solidFill>
                <a:latin typeface="Aptos"/>
                <a:ea typeface="Aptos"/>
                <a:cs typeface="Aptos"/>
              </a:rPr>
              <a:t>你找到的路径和别人不一样，也不代表做错；看最后的表格。</a:t>
            </a:r>
          </a:p>
        </p:txBody>
      </p:sp>
    </p:spTree>
    <p:extLst>
      <p:ext uri="{BB962C8B-B14F-4D97-AF65-F5344CB8AC3E}">
        <p14:creationId xmlns:p14="http://schemas.microsoft.com/office/powerpoint/2010/main" val="18892719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DFC37-5885-4035-A346-831E0AD8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0648A-8B28-457E-8AA6-9C3E8F59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DA825-3CC1-4523-BF77-30E38F4F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85B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B46"/>
                </a:solidFill>
                <a:latin typeface="Aptos"/>
                <a:ea typeface="Aptos"/>
                <a:cs typeface="Aptos"/>
              </a:rPr>
              <a:t>格式速查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28A2F-1172-4C33-947F-755EE654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找不到按钮？放大看这里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3128A-B50E-4A15-99F1-36D360CA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05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57685"/>
                </a:solidFill>
                <a:latin typeface="Aptos"/>
                <a:ea typeface="Aptos"/>
                <a:cs typeface="Aptos"/>
              </a:rPr>
              <a:t>12 / 19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e0d5ec5a64d96"/>
          <a:stretch xmlns:a="http://schemas.openxmlformats.org/drawingml/2006/main"/>
        </p:blipFill>
        <p:spPr>
          <a:xfrm xmlns:a="http://schemas.openxmlformats.org/drawingml/2006/main">
            <a:off x="1428750" y="3119804"/>
            <a:ext cx="9334500" cy="7898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C110A-3921-4803-B80D-1945D235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57685"/>
                </a:solidFill>
                <a:latin typeface="Aptos"/>
                <a:ea typeface="Aptos"/>
                <a:cs typeface="Aptos"/>
              </a:rPr>
              <a:t>鼠标停在按钮上，等一秒，Excel 会告诉你它叫什么。</a:t>
            </a:r>
          </a:p>
        </p:txBody>
      </p:sp>
    </p:spTree>
    <p:extLst>
      <p:ext uri="{BB962C8B-B14F-4D97-AF65-F5344CB8AC3E}">
        <p14:creationId xmlns:p14="http://schemas.microsoft.com/office/powerpoint/2010/main" val="3802309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31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4F0BE-2BB8-4580-B3F1-C71E5810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D5BCA-3708-4ECD-AEC6-433D1AA9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E699B-D8CE-4C9A-B417-C516AD87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77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B777"/>
                </a:solidFill>
                <a:latin typeface="Aptos"/>
                <a:ea typeface="Aptos"/>
                <a:cs typeface="Aptos"/>
              </a:rPr>
              <a:t>第三关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3166E-E998-440F-9556-35A17AC9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让 Excel 替你抄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69226-8950-4FC6-847C-5271B269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BE9F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DBE9F4"/>
                </a:solidFill>
                <a:latin typeface="Aptos"/>
                <a:ea typeface="Aptos"/>
                <a:cs typeface="Aptos"/>
              </a:rPr>
              <a:t>重复的事，先看看能不能交给电脑。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2D62B-C246-4032-AC24-55BF8340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9C4D7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A9C4D7"/>
                </a:solidFill>
                <a:latin typeface="Aptos"/>
                <a:ea typeface="Aptos"/>
                <a:cs typeface="Aptos"/>
              </a:rPr>
              <a:t>13 / 19</a:t>
            </a:r>
          </a:p>
        </p:txBody>
      </p:sp>
    </p:spTree>
    <p:extLst>
      <p:ext uri="{BB962C8B-B14F-4D97-AF65-F5344CB8AC3E}">
        <p14:creationId xmlns:p14="http://schemas.microsoft.com/office/powerpoint/2010/main" val="8553806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1D7AA-208F-4DFF-B6D8-942E0490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6EEDC-E2F0-4176-843E-850B8FFE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67333-5897-428F-9E5A-D20B12F3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85B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B46"/>
                </a:solidFill>
                <a:latin typeface="Aptos"/>
                <a:ea typeface="Aptos"/>
                <a:cs typeface="Aptos"/>
              </a:rPr>
              <a:t>动手做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67156-8240-4937-B59B-60B0C578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学号 1、2、3……你要一行行打吗？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DB800-4874-4BB2-AF67-1D0C7C33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05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57685"/>
                </a:solidFill>
                <a:latin typeface="Aptos"/>
                <a:ea typeface="Aptos"/>
                <a:cs typeface="Aptos"/>
              </a:rPr>
              <a:t>14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6E7AA-9A25-4927-BAC1-F94140E8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6F671-7B15-4983-96B3-70BB2E24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2B3A"/>
                </a:solidFill>
                <a:latin typeface="Aptos"/>
                <a:ea typeface="Aptos"/>
                <a:cs typeface="Aptos"/>
              </a:rPr>
              <a:t>先在前两格写好 1、2。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C4CC0-C3A2-48BE-ACDE-1210B836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2F848-8C25-4C69-BE23-4E67032C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2B3A"/>
                </a:solidFill>
                <a:latin typeface="Aptos"/>
                <a:ea typeface="Aptos"/>
                <a:cs typeface="Aptos"/>
              </a:rPr>
              <a:t>选中它们，找右下角的小黑十字。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1487E-26B0-42A7-9309-F76BD2F8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B13B7-6DB1-4833-8E1B-1AC8E23A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72B3A"/>
                </a:solidFill>
                <a:latin typeface="Aptos"/>
                <a:ea typeface="Aptos"/>
                <a:cs typeface="Aptos"/>
              </a:rPr>
              <a:t>抓住填充柄往下拖，Excel 会续出后面的数字。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297775fd04ebe"/>
          <a:stretch xmlns:a="http://schemas.openxmlformats.org/drawingml/2006/main"/>
        </p:blipFill>
        <p:spPr>
          <a:xfrm xmlns:a="http://schemas.openxmlformats.org/drawingml/2006/main">
            <a:off x="6191250" y="2404738"/>
            <a:ext cx="4762500" cy="20294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593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1057A-E422-4A83-B969-3173A332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EA74A-9F5C-4227-B376-C505ED07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F004F-EA32-41BA-A027-BA9B1D30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85B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B46"/>
                </a:solidFill>
                <a:latin typeface="Aptos"/>
                <a:ea typeface="Aptos"/>
                <a:cs typeface="Aptos"/>
              </a:rPr>
              <a:t>小黑十字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0D1D1-4A6B-4D68-A8DD-5A30FDA9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填充柄到底做了什么？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7B5A7-1285-4676-A8C4-27935380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05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57685"/>
                </a:solidFill>
                <a:latin typeface="Aptos"/>
                <a:ea typeface="Aptos"/>
                <a:cs typeface="Aptos"/>
              </a:rPr>
              <a:t>15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56220-A274-46BF-9C7A-6F12974B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2653D-F560-47C7-87DC-5B465E04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72B3A"/>
                </a:solidFill>
                <a:latin typeface="Aptos"/>
                <a:ea typeface="Aptos"/>
                <a:cs typeface="Aptos"/>
              </a:rPr>
              <a:t>你给了 Excel 两个样本：1、2。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D92CC-9A38-4BDE-8AB7-2E2C81A8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22037-AF84-41FA-A69E-EA2808C7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72B3A"/>
                </a:solidFill>
                <a:latin typeface="Aptos"/>
                <a:ea typeface="Aptos"/>
                <a:cs typeface="Aptos"/>
              </a:rPr>
              <a:t>它看出规律：每次加 1。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BE633-3E1E-4995-8F5D-CC5440CD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88DA3-7C62-4022-B22F-1550F0FC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72B3A"/>
                </a:solidFill>
                <a:latin typeface="Aptos"/>
                <a:ea typeface="Aptos"/>
                <a:cs typeface="Aptos"/>
              </a:rPr>
              <a:t>拖到下面，它把规律续成 3、4、5、6。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9976D-40D5-4FAB-A7CD-2A662B2E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65A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65A8"/>
                </a:solidFill>
                <a:latin typeface="Aptos"/>
                <a:ea typeface="Aptos"/>
                <a:cs typeface="Aptos"/>
              </a:rPr>
              <a:t>重复 → 找规律 → 交给电脑</a:t>
            </a:r>
          </a:p>
        </p:txBody>
      </p:sp>
    </p:spTree>
    <p:extLst>
      <p:ext uri="{BB962C8B-B14F-4D97-AF65-F5344CB8AC3E}">
        <p14:creationId xmlns:p14="http://schemas.microsoft.com/office/powerpoint/2010/main" val="9150227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A65C4-8411-4D1D-AAC2-5E1DF0C2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AB907-E11B-4E76-A227-734E653C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B34A1-EF12-4522-9C11-A14BE2E1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85B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B46"/>
                </a:solidFill>
                <a:latin typeface="Aptos"/>
                <a:ea typeface="Aptos"/>
                <a:cs typeface="Aptos"/>
              </a:rPr>
              <a:t>做对就行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BD8FF-9912-4222-8556-F1E94E4B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按钮、菜单、快捷键，选哪条路都可以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BCA2B-1B9A-4F2A-8133-16CA3C20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05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57685"/>
                </a:solidFill>
                <a:latin typeface="Aptos"/>
                <a:ea typeface="Aptos"/>
                <a:cs typeface="Aptos"/>
              </a:rPr>
              <a:t>16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52474-CEB8-4686-B21A-5C8CE19E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FFD8D-83A7-4881-93A6-DE34738C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72B3A"/>
                </a:solidFill>
                <a:latin typeface="Aptos"/>
                <a:ea typeface="Aptos"/>
                <a:cs typeface="Aptos"/>
              </a:rPr>
              <a:t>标题跨 5 列，文字在中间。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CE174-74F1-43D5-A40F-C65BACAE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5514E-4327-4FD4-884B-44085EAC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72B3A"/>
                </a:solidFill>
                <a:latin typeface="Aptos"/>
                <a:ea typeface="Aptos"/>
                <a:cs typeface="Aptos"/>
              </a:rPr>
              <a:t>表头清楚，和下面的数据分得开。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9A39E-26F5-4FD0-A16A-792A0992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1D09A-D411-450C-92C4-B39C9719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72B3A"/>
                </a:solidFill>
                <a:latin typeface="Aptos"/>
                <a:ea typeface="Aptos"/>
                <a:cs typeface="Aptos"/>
              </a:rPr>
              <a:t>学号按规律排好，不靠逐个输入。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5c72e89724689"/>
          <a:stretch xmlns:a="http://schemas.openxmlformats.org/drawingml/2006/main"/>
        </p:blipFill>
        <p:spPr>
          <a:xfrm xmlns:a="http://schemas.openxmlformats.org/drawingml/2006/main">
            <a:off x="6191250" y="2404738"/>
            <a:ext cx="4762500" cy="20294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7528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6F395-0930-490C-A178-657CE5D4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76A06-B6D8-41FC-8BE7-B5A82F66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33780-F916-4D01-8284-0535A6E8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85B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B46"/>
                </a:solidFill>
                <a:latin typeface="Aptos"/>
                <a:ea typeface="Aptos"/>
                <a:cs typeface="Aptos"/>
              </a:rPr>
              <a:t>回头看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CDA07-2ABE-4276-9BB8-FE71E9A6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今天你把这件事做成了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4F55A-8B71-41F4-8AE4-8FDDF6DB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05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57685"/>
                </a:solidFill>
                <a:latin typeface="Aptos"/>
                <a:ea typeface="Aptos"/>
                <a:cs typeface="Aptos"/>
              </a:rPr>
              <a:t>17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CC1EB-694F-48FB-A92D-D62D4AA8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93DE6-F9D2-4B3D-9925-AA9CE80A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72B3A"/>
                </a:solidFill>
                <a:latin typeface="Aptos"/>
                <a:ea typeface="Aptos"/>
                <a:cs typeface="Aptos"/>
              </a:rPr>
              <a:t>先选中：让 Excel 知道对象是谁。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6233E-7FEA-4E62-840E-9D2D6FFE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CD1D4-967D-4DAE-A714-4B662908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72B3A"/>
                </a:solidFill>
                <a:latin typeface="Aptos"/>
                <a:ea typeface="Aptos"/>
                <a:cs typeface="Aptos"/>
              </a:rPr>
              <a:t>合并及居中：标题横跨多列，文字到中间。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D3D4F-D35E-4B26-87B9-F0C86CD1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16058-F43D-4F26-89B7-594BB37B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72B3A"/>
                </a:solidFill>
                <a:latin typeface="Aptos"/>
                <a:ea typeface="Aptos"/>
                <a:cs typeface="Aptos"/>
              </a:rPr>
              <a:t>格式工具栏：改字体、字号、加粗、下划线。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7C626-1134-4EB3-B2A4-C8075627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BD160-9A86-4770-94D2-888E2F17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72B3A"/>
                </a:solidFill>
                <a:latin typeface="Aptos"/>
                <a:ea typeface="Aptos"/>
                <a:cs typeface="Aptos"/>
              </a:rPr>
              <a:t>填充柄：拖一拖把规律续下去。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09DAF-7D00-45F5-981C-DEE752AF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65A8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65A8"/>
                </a:solidFill>
                <a:latin typeface="Aptos"/>
                <a:ea typeface="Aptos"/>
                <a:cs typeface="Aptos"/>
              </a:rPr>
              <a:t>下节课：同一个小黑十字，拖的不是数字，而是公式。</a:t>
            </a:r>
          </a:p>
        </p:txBody>
      </p:sp>
    </p:spTree>
    <p:extLst>
      <p:ext uri="{BB962C8B-B14F-4D97-AF65-F5344CB8AC3E}">
        <p14:creationId xmlns:p14="http://schemas.microsoft.com/office/powerpoint/2010/main" val="6885644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2B1A8-D76E-4D88-81ED-9065EE91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62C41-574C-47E4-9FFA-958CE774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4D9FC-E097-42F2-BD26-492ED9BB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85B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B46"/>
                </a:solidFill>
                <a:latin typeface="Aptos"/>
                <a:ea typeface="Aptos"/>
                <a:cs typeface="Aptos"/>
              </a:rPr>
              <a:t>课后动手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2F300-BD1D-410D-80E8-B84EDD9C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315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B3158"/>
                </a:solidFill>
                <a:latin typeface="Aptos"/>
                <a:ea typeface="Aptos"/>
                <a:cs typeface="Aptos"/>
              </a:rPr>
              <a:t>做一张“我的课程表”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E4471-A4B7-44C6-A5B4-0E2EC619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055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5768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57685"/>
                </a:solidFill>
                <a:latin typeface="Aptos"/>
                <a:ea typeface="Aptos"/>
                <a:cs typeface="Aptos"/>
              </a:rPr>
              <a:t>18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2BC65-A0C9-4CE8-A59D-AF25D0B7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6025A-BEFC-4763-83FD-3AFF8801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B3A"/>
                </a:solidFill>
                <a:latin typeface="Aptos"/>
                <a:ea typeface="Aptos"/>
                <a:cs typeface="Aptos"/>
              </a:rPr>
              <a:t>必做：标题跨列合并居中、黑体；用自动填充排好第 1 节到第 8 节或星期。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0156F-8D32-4903-91BB-E99692B0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ED060-BC69-447A-874D-BA9EA497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B3A"/>
                </a:solidFill>
                <a:latin typeface="Aptos"/>
                <a:ea typeface="Aptos"/>
                <a:cs typeface="Aptos"/>
              </a:rPr>
              <a:t>选做：给课程表加底纹或边框，让内容更容易看清。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466F1-E579-4026-86FF-079127D3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A65FB-9B17-44C5-8372-939E3136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B3A"/>
                </a:solidFill>
                <a:latin typeface="Aptos"/>
                <a:ea typeface="Aptos"/>
                <a:cs typeface="Aptos"/>
              </a:rPr>
              <a:t>想一想：如果全班 50 个人都要填学号，你还会一行行敲吗？</a:t>
            </a:r>
          </a:p>
        </p:txBody>
      </p:sp>
    </p:spTree>
    <p:extLst>
      <p:ext uri="{BB962C8B-B14F-4D97-AF65-F5344CB8AC3E}">
        <p14:creationId xmlns:p14="http://schemas.microsoft.com/office/powerpoint/2010/main" val="1581306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31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955D7-F7DB-48B8-BAEA-9E3F40C0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B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5F03E-9216-4B20-A863-E00CC95E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77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B777"/>
                </a:solidFill>
                <a:latin typeface="Aptos"/>
                <a:ea typeface="Aptos"/>
                <a:cs typeface="Aptos"/>
              </a:rPr>
              <a:t>Excel 2003 · 第一课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26666-7C41-446C-A90D-06D29C31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7620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先看目标，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再找方法。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2B4BF-86F9-4288-9D8C-14D5D64B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BE9F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DBE9F4"/>
                </a:solidFill>
                <a:latin typeface="Aptos"/>
                <a:ea typeface="Aptos"/>
                <a:cs typeface="Aptos"/>
              </a:rPr>
              <a:t>下一次，让平均分自己算出来。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B1A9D-D9CF-4AEF-B5BD-95992386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9C4D7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A9C4D7"/>
                </a:solidFill>
                <a:latin typeface="Aptos"/>
                <a:ea typeface="Aptos"/>
                <a:cs typeface="Aptos"/>
              </a:rPr>
              <a:t>19 / 19</a:t>
            </a:r>
          </a:p>
        </p:txBody>
      </p:sp>
    </p:spTree>
    <p:extLst>
      <p:ext uri="{BB962C8B-B14F-4D97-AF65-F5344CB8AC3E}">
        <p14:creationId xmlns:p14="http://schemas.microsoft.com/office/powerpoint/2010/main" val="367876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2026-09-15T20:31:36.2000000Z</dcterms:created>
  <dcterms:modified xsi:type="dcterms:W3CDTF">2026-09-15T20:31:36.2000000Z</dcterms:modified>
</coreProperties>
</file>